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99" d="100"/>
          <a:sy n="99" d="100"/>
        </p:scale>
        <p:origin x="192" y="6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Drone-only model</c:v>
                </c:pt>
              </c:strCache>
            </c:strRef>
          </c:tx>
          <c:spPr>
            <a:solidFill>
              <a:srgbClr val="D94F2B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7.2 cm (drone)</c:v>
                </c:pt>
                <c:pt idx="1">
                  <c:v>15 cm</c:v>
                </c:pt>
                <c:pt idx="2">
                  <c:v>30 cm</c:v>
                </c:pt>
                <c:pt idx="3">
                  <c:v>45 cm (satellite)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</c:v>
                </c:pt>
                <c:pt idx="1">
                  <c:v>0.54</c:v>
                </c:pt>
                <c:pt idx="2">
                  <c:v>0.28999999999999998</c:v>
                </c:pt>
                <c:pt idx="3">
                  <c:v>0.14000000000000001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FD0-CD47-A345-25E1E78E8A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GeoParcel AI multi-scale</c:v>
                </c:pt>
              </c:strCache>
            </c:strRef>
          </c:tx>
          <c:spPr>
            <a:solidFill>
              <a:srgbClr val="0F8070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7.2 cm (drone)</c:v>
                </c:pt>
                <c:pt idx="1">
                  <c:v>15 cm</c:v>
                </c:pt>
                <c:pt idx="2">
                  <c:v>30 cm</c:v>
                </c:pt>
                <c:pt idx="3">
                  <c:v>45 cm (satellite)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0.67</c:v>
                </c:pt>
                <c:pt idx="1">
                  <c:v>0.7</c:v>
                </c:pt>
                <c:pt idx="2">
                  <c:v>0.64</c:v>
                </c:pt>
                <c:pt idx="3">
                  <c:v>0.61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FD0-CD47-A345-25E1E78E8A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D6E3"/>
            </a:solidFill>
          </a:ln>
        </c:spPr>
        <c:txPr>
          <a:bodyPr/>
          <a:lstStyle/>
          <a:p>
            <a:pPr>
              <a:defRPr sz="8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IN" sz="850" b="0"/>
                  <a:t>Pixel IoU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55F6D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github.com/OMMEOW/SIH26_PS2601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spaces/omeow/geoparcel-ai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github.com/OMMEOW/SIH26_PS26012/releases/tag/weights-v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MMEOW/SIH26_PS26012" TargetMode="External"/><Relationship Id="rId5" Type="http://schemas.openxmlformats.org/officeDocument/2006/relationships/hyperlink" Target="https://huggingface.co/spaces/omeow/geoparcel-ai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x.com/PIB_India/status/2034203626458030203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newsonair.gov.in/madhya-pradesh-rural-development-minister-to-launch-naksha-for-urban-land-surve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ource.coop/repositories/open-cities/ai-challenge/description" TargetMode="External"/><Relationship Id="rId5" Type="http://schemas.openxmlformats.org/officeDocument/2006/relationships/hyperlink" Target="https://arxiv.org/abs/1512.03385" TargetMode="External"/><Relationship Id="rId10" Type="http://schemas.openxmlformats.org/officeDocument/2006/relationships/hyperlink" Target="https://github.com/OMMEOW/SIH26_PS26012" TargetMode="External"/><Relationship Id="rId4" Type="http://schemas.openxmlformats.org/officeDocument/2006/relationships/hyperlink" Target="https://arxiv.org/abs/1505.04597" TargetMode="External"/><Relationship Id="rId9" Type="http://schemas.openxmlformats.org/officeDocument/2006/relationships/hyperlink" Target="https://huggingface.co/spaces/omeow/geoparcel-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74519"/>
            <a:ext cx="5924550" cy="343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SIH26012</a:t>
            </a:r>
          </a:p>
          <a:p>
            <a:pPr marL="285750" indent="-285750" algn="just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AI-Based Automated Urban Parcel Mapping and Cadastral Feature Extraction System using Drone Imagery</a:t>
            </a:r>
          </a:p>
          <a:p>
            <a:pPr marL="285750" indent="-285750" algn="just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126010</a:t>
            </a:r>
            <a:endParaRPr sz="1900" b="1" dirty="0">
              <a:solidFill>
                <a:srgbClr val="D94F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Name- SUPER6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9296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SUPER6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828800" y="786384"/>
            <a:ext cx="7863840" cy="347472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700" b="1" i="0" u="none">
                <a:solidFill>
                  <a:srgbClr val="0F8070"/>
                </a:solidFill>
                <a:latin typeface="Calibri"/>
              </a:rPr>
              <a:t>GeoParcel AI</a:t>
            </a:r>
            <a:r>
              <a:rPr sz="1300" b="1" i="0" u="none">
                <a:solidFill>
                  <a:srgbClr val="1F3864"/>
                </a:solidFill>
                <a:latin typeface="Calibri"/>
              </a:rPr>
              <a:t> — drone &amp; satellite imagery → verification-ready building-parcel maps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274320" y="1207008"/>
            <a:ext cx="694944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274320" y="1536192"/>
            <a:ext cx="7086600" cy="233172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150" b="0" i="1" u="none">
                <a:solidFill>
                  <a:srgbClr val="555F6D"/>
                </a:solidFill>
                <a:latin typeface="Calibri"/>
              </a:rPr>
              <a:t>An end-to-end AI pipeline that turns an orthomosaic (or a satellite map) into clean, georeferenced building-footprint polygons — the parcel candidates a surveyor verifies instead of tracing by hand.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Scale-aware AI segmentation: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U-Net with ResNet-34 encoder labels every pixel as building / background; overlapping 512-px tiled inference handles images of any size.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Works from drone to satellite: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multi-scale model trained at 7–45 cm/pixel; GeoTIFF resolution is read automatically.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Rectilinear regularisation: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jagged masks become right-angled polygons (~27× fewer vertices) through orientation snapping, least-squares edge refits and an IoU fidelity guard.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GIS-ready output: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GeoJSON in the image's own CRS (UTM / WGS84), ready for QGIS, Web-GIS and the NAKSHA workflow.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Surveyor in the loop: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every polygon is tagged “candidate – needs field verification”; corrections feed retraining.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274320" y="3913632"/>
            <a:ext cx="347472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274320" y="4224528"/>
            <a:ext cx="3520440" cy="210312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Removes the bottleneck: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manual digitisation sits between the drone flight and the property record; we automate it.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Consistent &amp; auditable: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the same model and rules for every ward, with per-polygon review status.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Scales nationally: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NAKSHA covers 152 ULBs in 26 States + 3 UTs; SVAMITVA has surveyed 3.29 lakh villages.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3840480" y="3913632"/>
            <a:ext cx="356616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840480" y="4206240"/>
            <a:ext cx="3566160" cy="210312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Multi-resolution: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one model for 7 cm drone and ~45 cm satellite imagery (IoU 0.14 → 0.61 at 45 cm).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Shape-aware post-processing: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polygons a surveyor can edit, not pixel blobs.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Proven, not proposed: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working prototype, open code, public live demo.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 u="none">
                <a:solidFill>
                  <a:srgbClr val="1F3864"/>
                </a:solidFill>
                <a:latin typeface="Calibri"/>
              </a:rPr>
              <a:t>Low cost: </a:t>
            </a:r>
            <a:r>
              <a:rPr sz="1050" b="0" i="0" u="none">
                <a:solidFill>
                  <a:srgbClr val="1A1A1A"/>
                </a:solidFill>
                <a:latin typeface="Calibri"/>
              </a:rPr>
              <a:t>trained on one laptop GPU; runs on free cloud hardware.</a:t>
            </a:r>
          </a:p>
        </p:txBody>
      </p:sp>
      <p:pic>
        <p:nvPicPr>
          <p:cNvPr id="15369" name="Picture 15368" descr="hero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243584"/>
            <a:ext cx="2194560" cy="2194560"/>
          </a:xfrm>
          <a:prstGeom prst="rect">
            <a:avLst/>
          </a:prstGeom>
        </p:spPr>
      </p:pic>
      <p:pic>
        <p:nvPicPr>
          <p:cNvPr id="15370" name="Picture 15369" descr="hero_re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232" y="1243584"/>
            <a:ext cx="2194560" cy="2194560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7589520" y="3456432"/>
            <a:ext cx="2194560" cy="384048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950" b="1" i="0" u="none">
                <a:solidFill>
                  <a:srgbClr val="D94F2B"/>
                </a:solidFill>
                <a:latin typeface="Calibri"/>
              </a:rPr>
              <a:t>Raw AI contour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~240 vertices per building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9857232" y="3456432"/>
            <a:ext cx="2194560" cy="384048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950" b="1" i="0" u="none">
                <a:solidFill>
                  <a:srgbClr val="0F8070"/>
                </a:solidFill>
                <a:latin typeface="Calibri"/>
              </a:rPr>
              <a:t>GeoParcel AI polygon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~10 vertices, right-angled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7589520" y="3950208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74" name="TextBox 15373"/>
          <p:cNvSpPr txBox="1"/>
          <p:nvPr/>
        </p:nvSpPr>
        <p:spPr>
          <a:xfrm>
            <a:off x="7635240" y="3977640"/>
            <a:ext cx="1325880" cy="499262"/>
          </a:xfrm>
          <a:prstGeom prst="rect">
            <a:avLst/>
          </a:prstGeom>
          <a:noFill/>
        </p:spPr>
        <p:txBody>
          <a:bodyPr wrap="square" lIns="36576" tIns="36576" rIns="36576" bIns="36576" anchor="b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 u="none">
                <a:solidFill>
                  <a:srgbClr val="0F8070"/>
                </a:solidFill>
                <a:latin typeface="Calibri"/>
              </a:rPr>
              <a:t>0.80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7635240" y="4449470"/>
            <a:ext cx="1325880" cy="441655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pixel IoU on an unseen neighbourhood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9079992" y="3950208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77" name="TextBox 15376"/>
          <p:cNvSpPr txBox="1"/>
          <p:nvPr/>
        </p:nvSpPr>
        <p:spPr>
          <a:xfrm>
            <a:off x="9125712" y="3977640"/>
            <a:ext cx="1325880" cy="499262"/>
          </a:xfrm>
          <a:prstGeom prst="rect">
            <a:avLst/>
          </a:prstGeom>
          <a:noFill/>
        </p:spPr>
        <p:txBody>
          <a:bodyPr wrap="square" lIns="36576" tIns="36576" rIns="36576" bIns="36576" anchor="b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 u="none">
                <a:solidFill>
                  <a:srgbClr val="0F8070"/>
                </a:solidFill>
                <a:latin typeface="Calibri"/>
              </a:rPr>
              <a:t>27×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9125712" y="4449470"/>
            <a:ext cx="1325880" cy="441655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fewer vertices per polygon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10570464" y="3950208"/>
            <a:ext cx="148132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80" name="TextBox 15379"/>
          <p:cNvSpPr txBox="1"/>
          <p:nvPr/>
        </p:nvSpPr>
        <p:spPr>
          <a:xfrm>
            <a:off x="10616184" y="3977640"/>
            <a:ext cx="1389888" cy="499262"/>
          </a:xfrm>
          <a:prstGeom prst="rect">
            <a:avLst/>
          </a:prstGeom>
          <a:noFill/>
        </p:spPr>
        <p:txBody>
          <a:bodyPr wrap="square" lIns="36576" tIns="36576" rIns="36576" bIns="36576" anchor="b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2000" b="1" i="0" u="none">
                <a:solidFill>
                  <a:srgbClr val="0070C0"/>
                </a:solidFill>
                <a:latin typeface="Calibri"/>
              </a:rPr>
              <a:t>0.14→0.61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10616184" y="4449470"/>
            <a:ext cx="1389888" cy="441655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IoU on 45 cm satellite-like imagery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7589520" y="5029200"/>
            <a:ext cx="4462272" cy="10515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83" name="TextBox 15382"/>
          <p:cNvSpPr txBox="1"/>
          <p:nvPr/>
        </p:nvSpPr>
        <p:spPr>
          <a:xfrm>
            <a:off x="7680960" y="5074920"/>
            <a:ext cx="4297680" cy="113385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i="0" u="none">
                <a:solidFill>
                  <a:srgbClr val="0F8070"/>
                </a:solidFill>
                <a:latin typeface="Calibri"/>
              </a:rPr>
              <a:t>Working prototype — try it live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u="none">
                <a:solidFill>
                  <a:srgbClr val="1A1A1A"/>
                </a:solidFill>
                <a:latin typeface="Calibri"/>
              </a:rPr>
              <a:t>Demo: </a:t>
            </a:r>
            <a:r>
              <a:rPr sz="950" b="0" i="0" u="sng">
                <a:solidFill>
                  <a:srgbClr val="0070C0"/>
                </a:solidFill>
                <a:latin typeface="Calibri"/>
                <a:hlinkClick r:id="rId6"/>
              </a:rPr>
              <a:t>huggingface.co/spaces/omeow/geoparcel-ai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u="none">
                <a:solidFill>
                  <a:srgbClr val="1A1A1A"/>
                </a:solidFill>
                <a:latin typeface="Calibri"/>
              </a:rPr>
              <a:t>Code: </a:t>
            </a:r>
            <a:r>
              <a:rPr sz="950" b="0" i="0" u="sng">
                <a:solidFill>
                  <a:srgbClr val="0070C0"/>
                </a:solidFill>
                <a:latin typeface="Calibri"/>
                <a:hlinkClick r:id="rId7"/>
              </a:rPr>
              <a:t>github.com/OMMEOW/SIH26_PS26012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850" b="0" i="0" u="none">
                <a:solidFill>
                  <a:srgbClr val="555F6D"/>
                </a:solidFill>
                <a:latin typeface="Calibri"/>
              </a:rPr>
              <a:t>Upload a drone tile or satellite screenshot → polygons + GeoJSON download.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SUPER6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74320" y="1097280"/>
            <a:ext cx="457200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Technologies to be used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274320" y="1444752"/>
          <a:ext cx="4709160" cy="22799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AI / ML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PyTorch · segmentation_models_pytorch (U-Net, ResNet-34) · timm · Dice + BCE loss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Geospatial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Rasterio / GDAL · GeoPandas · Shapely · PyProj (WGS84 ↔ UTM)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Vision &amp; maths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OpenCV · NumPy · SciPy · Albumentations (augmentation)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Applications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Gradio (public web app) · Streamlit (operator console)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Hugging Face Spaces (ZeroGPU) · Docker · GitHub Releases (weights)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Output standard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GeoJSON in source CRS → QGIS / Web-GIS / NAKSHA portal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Open Cities AI Challenge drone orthomosaics, 4–7 cm/pixel (ODbL)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412" name="TextBox 17411"/>
          <p:cNvSpPr txBox="1"/>
          <p:nvPr/>
        </p:nvSpPr>
        <p:spPr>
          <a:xfrm>
            <a:off x="5257800" y="1097280"/>
            <a:ext cx="667512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Methodology &amp; process flow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303520" y="1481328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  Input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Drone GeoTIFF or satellite screenshot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967728" y="1481328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  Scale normalise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Resample to 7.2 cm/px working scale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631936" y="1481328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  Tiled U-Net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512-px tiles, 64-px overlap, averaged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0296144" y="1481328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  Building mask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per-pixel probability → binary mask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6803136" y="1837944"/>
            <a:ext cx="146304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>
            <a:off x="8467344" y="1837944"/>
            <a:ext cx="146304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10131551" y="1837944"/>
            <a:ext cx="146305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5303520" y="2615184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6B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8  Feedback loop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corrections → retraining data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967728" y="2615184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D94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7  Surveyor review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Web-GIS check &amp; field verification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631936" y="2615184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0F8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6  GeoJSON export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polygons in source CRS (UTM/WGS84)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0296144" y="2615184"/>
            <a:ext cx="1481328" cy="713232"/>
          </a:xfrm>
          <a:prstGeom prst="roundRect">
            <a:avLst>
              <a:gd name="adj" fmla="val 8000"/>
            </a:avLst>
          </a:prstGeom>
          <a:solidFill>
            <a:srgbClr val="0F8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  Regularise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snap to dominant axis, LSQ refit, IoU guard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11036808" y="2212848"/>
            <a:ext cx="0" cy="384048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 flipH="1">
            <a:off x="6803136" y="2971800"/>
            <a:ext cx="146304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 flipH="1">
            <a:off x="8467344" y="2971800"/>
            <a:ext cx="146304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 flipH="1">
            <a:off x="10131551" y="2971800"/>
            <a:ext cx="146305" cy="0"/>
          </a:xfrm>
          <a:prstGeom prst="line">
            <a:avLst/>
          </a:prstGeom>
          <a:ln w="22225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 flipV="1">
            <a:off x="6044183" y="2212848"/>
            <a:ext cx="0" cy="384048"/>
          </a:xfrm>
          <a:prstGeom prst="line">
            <a:avLst/>
          </a:prstGeom>
          <a:ln w="22225">
            <a:solidFill>
              <a:srgbClr val="6B4E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TextBox 17428"/>
          <p:cNvSpPr txBox="1"/>
          <p:nvPr/>
        </p:nvSpPr>
        <p:spPr>
          <a:xfrm>
            <a:off x="5257800" y="3456432"/>
            <a:ext cx="667512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Model development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303520" y="37673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5349240" y="3794760"/>
            <a:ext cx="1463040" cy="91440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CRS-aligned tiling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u="none">
                <a:solidFill>
                  <a:srgbClr val="555F6D"/>
                </a:solidFill>
                <a:latin typeface="Calibri"/>
              </a:rPr>
              <a:t>WGS84 labels reprojected to UTM before rasterising (else masks are empty)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967728" y="37673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7013448" y="3794760"/>
            <a:ext cx="1463040" cy="91440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Base training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u="none">
                <a:solidFill>
                  <a:srgbClr val="555F6D"/>
                </a:solidFill>
                <a:latin typeface="Calibri"/>
              </a:rPr>
              <a:t>5,008 tiles · 7.2 cm · 10 epochs · best val IoU 0.63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631936" y="37673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8677656" y="3794760"/>
            <a:ext cx="1463040" cy="91440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Multi-scale fine-tune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u="none">
                <a:solidFill>
                  <a:srgbClr val="555F6D"/>
                </a:solidFill>
                <a:latin typeface="Calibri"/>
              </a:rPr>
              <a:t>2 more scenes at 7.2–45 cm · JPEG/blur/colour aug · 6 epochs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0296144" y="37673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7" name="TextBox 17436"/>
          <p:cNvSpPr txBox="1"/>
          <p:nvPr/>
        </p:nvSpPr>
        <p:spPr>
          <a:xfrm>
            <a:off x="10341864" y="3794760"/>
            <a:ext cx="1463040" cy="91440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Evaluation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u="none">
                <a:solidFill>
                  <a:srgbClr val="555F6D"/>
                </a:solidFill>
                <a:latin typeface="Calibri"/>
              </a:rPr>
              <a:t>held-out tiles · unseen 396 m scene · accuracy per resolution</a:t>
            </a:r>
          </a:p>
        </p:txBody>
      </p:sp>
      <p:pic>
        <p:nvPicPr>
          <p:cNvPr id="17438" name="Picture 17437" descr="app_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206240"/>
            <a:ext cx="2971800" cy="1344386"/>
          </a:xfrm>
          <a:prstGeom prst="rect">
            <a:avLst/>
          </a:prstGeom>
          <a:ln w="12700">
            <a:solidFill>
              <a:srgbClr val="C9D6E3"/>
            </a:solidFill>
          </a:ln>
        </p:spPr>
      </p:pic>
      <p:sp>
        <p:nvSpPr>
          <p:cNvPr id="17439" name="TextBox 17438"/>
          <p:cNvSpPr txBox="1"/>
          <p:nvPr/>
        </p:nvSpPr>
        <p:spPr>
          <a:xfrm>
            <a:off x="274320" y="5596128"/>
            <a:ext cx="2971800" cy="27432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00" b="0" i="1" u="none">
                <a:solidFill>
                  <a:srgbClr val="555F6D"/>
                </a:solidFill>
                <a:latin typeface="Calibri"/>
              </a:rPr>
              <a:t>Live web app: upload → polygons → GeoJSON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383280" y="3913632"/>
            <a:ext cx="1600200" cy="1874519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3438144" y="3950208"/>
            <a:ext cx="1508760" cy="228600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 u="none">
                <a:solidFill>
                  <a:srgbClr val="0F8070"/>
                </a:solidFill>
                <a:latin typeface="Calibri"/>
              </a:rPr>
              <a:t>Workflow fit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 u="none">
                <a:solidFill>
                  <a:srgbClr val="1A1A1A"/>
                </a:solidFill>
                <a:latin typeface="Calibri"/>
              </a:rPr>
              <a:t>Drone survey → orthomosaic → GeoParcel AI → surveyor → land record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 u="none">
                <a:solidFill>
                  <a:srgbClr val="0F8070"/>
                </a:solidFill>
                <a:latin typeface="Calibri"/>
              </a:rPr>
              <a:t>Speed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50" b="0" i="0" u="none">
                <a:solidFill>
                  <a:srgbClr val="1A1A1A"/>
                </a:solidFill>
                <a:latin typeface="Calibri"/>
              </a:rPr>
              <a:t>640×520 px satellite screenshot (42 tiles): ~4 s on a shared GPU, ~18 s on CPU.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5303520" y="4937760"/>
            <a:ext cx="660196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4F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43" name="TextBox 17442"/>
          <p:cNvSpPr txBox="1"/>
          <p:nvPr/>
        </p:nvSpPr>
        <p:spPr>
          <a:xfrm>
            <a:off x="5394960" y="4983480"/>
            <a:ext cx="6446520" cy="1078992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i="0" u="none">
                <a:solidFill>
                  <a:srgbClr val="D94F2B"/>
                </a:solidFill>
                <a:latin typeface="Calibri"/>
              </a:rPr>
              <a:t>Project links (working prototype)</a:t>
            </a:r>
          </a:p>
          <a:p>
            <a:pPr marL="155448" indent="-155448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Calibri"/>
              </a:rPr>
              <a:t>Live demo: </a:t>
            </a:r>
            <a:r>
              <a:rPr sz="950" b="0" i="0" u="sng">
                <a:solidFill>
                  <a:srgbClr val="0070C0"/>
                </a:solidFill>
                <a:latin typeface="Calibri"/>
                <a:hlinkClick r:id="rId5"/>
              </a:rPr>
              <a:t>https://huggingface.co/spaces/omeow/geoparcel-ai</a:t>
            </a:r>
          </a:p>
          <a:p>
            <a:pPr marL="155448" indent="-155448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Calibri"/>
              </a:rPr>
              <a:t>GitHub: </a:t>
            </a:r>
            <a:r>
              <a:rPr sz="950" b="0" i="0" u="sng">
                <a:solidFill>
                  <a:srgbClr val="0070C0"/>
                </a:solidFill>
                <a:latin typeface="Calibri"/>
                <a:hlinkClick r:id="rId6"/>
              </a:rPr>
              <a:t>https://github.com/OMMEOW/SIH26_PS26012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Calibri"/>
              </a:rPr>
              <a:t>Model weights: </a:t>
            </a:r>
            <a:r>
              <a:rPr sz="950" b="0" i="0" u="sng">
                <a:solidFill>
                  <a:srgbClr val="0070C0"/>
                </a:solidFill>
                <a:latin typeface="Calibri"/>
                <a:hlinkClick r:id="rId7"/>
              </a:rPr>
              <a:t>https://github.com/OMMEOW/SIH26_PS26012/releases/tag/weights-v1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SUPER6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74320" y="1097280"/>
            <a:ext cx="566928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Feasibility (already demonstrated)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274320" y="1426464"/>
            <a:ext cx="5760720" cy="201168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marL="155448" indent="-155448" algn="l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Technical: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full pipeline built and tested on real drone imagery. Pixel IoU 0.60 on 502 held-out tiles; 0.80 on a never-seen 396 m × 396 m neighbourhood; 427 GeoJSON candidates produced end to end.</a:t>
            </a:r>
          </a:p>
          <a:p>
            <a:pPr marL="155448" indent="-155448" algn="l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Economic: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open-source stack, no licence fees; trained on a single laptop GPU; hosted on free cloud tier.</a:t>
            </a:r>
          </a:p>
          <a:p>
            <a:pPr marL="155448" indent="-155448" algn="l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Operational: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standard inputs (GeoTIFF) and outputs (GeoJSON) — slots into existing GIS tools; simple web UI for field teams.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50" b="1" i="0" u="none">
                <a:solidFill>
                  <a:srgbClr val="1F3864"/>
                </a:solidFill>
                <a:latin typeface="Calibri"/>
              </a:rPr>
              <a:t>Deployable anywhere: </a:t>
            </a:r>
            <a:r>
              <a:rPr sz="1150" b="0" i="0" u="none">
                <a:solidFill>
                  <a:srgbClr val="1A1A1A"/>
                </a:solidFill>
                <a:latin typeface="Calibri"/>
              </a:rPr>
              <a:t>Docker image for State data centres / NIC cloud, so imagery need not leave government servers.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74320" y="3657600"/>
            <a:ext cx="566928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Viability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3977639"/>
            <a:ext cx="5760720" cy="109728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Clear demand: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NAKSHA urban survey (152 ULBs, 26 States + 3 UTs) and SVAMITVA (3.29 lakh villages surveyed) both generate drone orthomosaics that need digitising.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Incremental adoption: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starts as decision support for surveyors; accuracy improves with every verified correction.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74320" y="5074920"/>
            <a:ext cx="5760720" cy="1188720"/>
          </a:xfrm>
          <a:prstGeom prst="roundRect">
            <a:avLst>
              <a:gd name="adj" fmla="val 8000"/>
            </a:avLst>
          </a:prstGeom>
          <a:solidFill>
            <a:srgbClr val="FFF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365760" y="5102352"/>
            <a:ext cx="5577840" cy="114300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 u="sng">
                <a:solidFill>
                  <a:srgbClr val="B7791F"/>
                </a:solidFill>
                <a:latin typeface="Calibri"/>
              </a:rPr>
              <a:t>SUPPORTING FACTS (measured on our prototype)</a:t>
            </a:r>
          </a:p>
          <a:p>
            <a:pPr marL="155448" indent="-155448" algn="l">
              <a:spcBef>
                <a:spcPts val="0"/>
              </a:spcBef>
              <a:spcAft>
                <a:spcPts val="100"/>
              </a:spcAft>
              <a:buClr>
                <a:srgbClr val="B7791F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Regularisation: 213 → 7.9 vertices per polygon; right-angle corners 17% → 35%; polygon IoU preserved (0.47 → 0.46).</a:t>
            </a:r>
          </a:p>
          <a:p>
            <a:pPr marL="155448" indent="-155448" algn="l">
              <a:spcBef>
                <a:spcPts val="0"/>
              </a:spcBef>
              <a:spcAft>
                <a:spcPts val="100"/>
              </a:spcAft>
              <a:buClr>
                <a:srgbClr val="B7791F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Multi-scale model: pixel IoU 0.61 → 0.67 at 7.2 cm and 0.14 → 0.61 at 45 cm on an unseen scene.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B7791F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No loss on the original drone validation set (0.642 → 0.643).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263640" y="1097280"/>
            <a:ext cx="566928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Challenges, risks &amp; mitigation</a:t>
            </a:r>
          </a:p>
        </p:txBody>
      </p:sp>
      <p:graphicFrame>
        <p:nvGraphicFramePr>
          <p:cNvPr id="17417" name="Table 17416"/>
          <p:cNvGraphicFramePr>
            <a:graphicFrameLocks noGrp="1"/>
          </p:cNvGraphicFramePr>
          <p:nvPr/>
        </p:nvGraphicFramePr>
        <p:xfrm>
          <a:off x="6263640" y="1444752"/>
          <a:ext cx="5669280" cy="3328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Mitigation strategy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Indian building stock (roofs, high-rise towers)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Missed buildings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Fine-tune on NAKSHA / SVAMITVA orthomosaics; active learning from surveyor edits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Touching buildings with shared walls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Merged parcels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Boundary-aware loss / instance segmentation; split tool in review UI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Mixed image resolutions &amp; sources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Accuracy drop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Multi-scale training (done); resolution read from GeoTIFF metadata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Legal acceptance of AI output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Disputes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Outputs are candidates only; mandatory field verification &amp; audit trail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Data security &amp; sovereignty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Data leakage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On-premise Docker deployment; no third-party APIs needed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Scale (crores of parcels)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Compute cost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Calibri"/>
                        </a:rPr>
                        <a:t>Tiled batch inference on GPU nodes; CPU fallback; process per ward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18" name="Rounded Rectangle 17417"/>
          <p:cNvSpPr/>
          <p:nvPr/>
        </p:nvSpPr>
        <p:spPr>
          <a:xfrm>
            <a:off x="6263640" y="4937760"/>
            <a:ext cx="5669280" cy="132588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6355080" y="4983480"/>
            <a:ext cx="5486400" cy="1261872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100" b="1" i="0" u="none">
                <a:solidFill>
                  <a:srgbClr val="0F8070"/>
                </a:solidFill>
                <a:latin typeface="Calibri"/>
              </a:rPr>
              <a:t>Roll-out plan</a:t>
            </a:r>
          </a:p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0F8070"/>
              </a:buClr>
              <a:buFont typeface="Arial"/>
              <a:buChar char="•"/>
            </a:pPr>
            <a:r>
              <a:rPr sz="1100" b="1" i="0" u="none">
                <a:solidFill>
                  <a:srgbClr val="1A1A1A"/>
                </a:solidFill>
                <a:latin typeface="Calibri"/>
              </a:rPr>
              <a:t>Pilot: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one NAKSHA ULB — compare against manual digitisation (time, accuracy).</a:t>
            </a:r>
          </a:p>
          <a:p>
            <a:pPr marL="155448" indent="-155448" algn="l">
              <a:spcBef>
                <a:spcPts val="0"/>
              </a:spcBef>
              <a:spcAft>
                <a:spcPts val="500"/>
              </a:spcAft>
              <a:buClr>
                <a:srgbClr val="0F8070"/>
              </a:buClr>
              <a:buFont typeface="Arial"/>
              <a:buChar char="•"/>
            </a:pPr>
            <a:r>
              <a:rPr sz="1100" b="1" i="0" u="none">
                <a:solidFill>
                  <a:srgbClr val="1A1A1A"/>
                </a:solidFill>
                <a:latin typeface="Calibri"/>
              </a:rPr>
              <a:t>Adapt: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fine-tune on Indian orthomosaics + surveyor corrections.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F8070"/>
              </a:buClr>
              <a:buFont typeface="Arial"/>
              <a:buChar char="•"/>
            </a:pPr>
            <a:r>
              <a:rPr sz="1100" b="1" i="0" u="none">
                <a:solidFill>
                  <a:srgbClr val="1A1A1A"/>
                </a:solidFill>
                <a:latin typeface="Calibri"/>
              </a:rPr>
              <a:t>Scale: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State-level deployment, then plot boundaries (walls, fences, roads).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SUPER6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74320" y="1097280"/>
            <a:ext cx="576072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274320" y="1426464"/>
            <a:ext cx="5806440" cy="182880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DoLR / State Revenue &amp; Survey depts: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faster conversion of drone surveys into digital land records.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Urban Local Bodies: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up-to-date building footprints for property tax, planning and encroachment checks.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Surveyors: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verify and correct instead of tracing every outline; more wards covered per team.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Citizens: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quicker property cards → easier loans, fewer boundary disputes.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Banks &amp; planners: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standard GeoJSON data for credit, infrastructure and disaster planning.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100" b="1" i="0" u="none">
                <a:solidFill>
                  <a:srgbClr val="1F3864"/>
                </a:solidFill>
                <a:latin typeface="Calibri"/>
              </a:rPr>
              <a:t>Disaster response: </a:t>
            </a:r>
            <a:r>
              <a:rPr sz="1100" b="0" i="0" u="none">
                <a:solidFill>
                  <a:srgbClr val="1A1A1A"/>
                </a:solidFill>
                <a:latin typeface="Calibri"/>
              </a:rPr>
              <a:t>rapid building inventories from post-event drone flights (the Open Cities data was built for this).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263640" y="1097280"/>
            <a:ext cx="566928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Measured accuracy: drone → satellite resolution</a:t>
            </a:r>
          </a:p>
        </p:txBody>
      </p:sp>
      <p:graphicFrame>
        <p:nvGraphicFramePr>
          <p:cNvPr id="17413" name="Chart 17412"/>
          <p:cNvGraphicFramePr>
            <a:graphicFrameLocks noGrp="1"/>
          </p:cNvGraphicFramePr>
          <p:nvPr/>
        </p:nvGraphicFramePr>
        <p:xfrm>
          <a:off x="6263640" y="1389888"/>
          <a:ext cx="56692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414" name="TextBox 17413"/>
          <p:cNvSpPr txBox="1"/>
          <p:nvPr/>
        </p:nvSpPr>
        <p:spPr>
          <a:xfrm>
            <a:off x="6263640" y="4114800"/>
            <a:ext cx="5669280" cy="237744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800" b="0" i="1" u="none">
                <a:solidFill>
                  <a:srgbClr val="555F6D"/>
                </a:solidFill>
                <a:latin typeface="Calibri"/>
              </a:rPr>
              <a:t>Unseen scene 353093 resampled to each resolution; up to 300 tiles each.</a:t>
            </a:r>
          </a:p>
        </p:txBody>
      </p:sp>
      <p:pic>
        <p:nvPicPr>
          <p:cNvPr id="17415" name="Picture 17414" descr="sat_ol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310128"/>
            <a:ext cx="1511559" cy="1234440"/>
          </a:xfrm>
          <a:prstGeom prst="rect">
            <a:avLst/>
          </a:prstGeom>
          <a:ln w="12700">
            <a:solidFill>
              <a:srgbClr val="C9D6E3"/>
            </a:solidFill>
          </a:ln>
        </p:spPr>
      </p:pic>
      <p:pic>
        <p:nvPicPr>
          <p:cNvPr id="17416" name="Picture 17415" descr="sat_ne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19" y="3310128"/>
            <a:ext cx="1511559" cy="1234440"/>
          </a:xfrm>
          <a:prstGeom prst="rect">
            <a:avLst/>
          </a:prstGeom>
          <a:ln w="12700">
            <a:solidFill>
              <a:srgbClr val="C9D6E3"/>
            </a:solidFill>
          </a:ln>
        </p:spPr>
      </p:pic>
      <p:sp>
        <p:nvSpPr>
          <p:cNvPr id="17417" name="TextBox 17416"/>
          <p:cNvSpPr txBox="1"/>
          <p:nvPr/>
        </p:nvSpPr>
        <p:spPr>
          <a:xfrm>
            <a:off x="3520440" y="3310128"/>
            <a:ext cx="2606040" cy="123444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50" b="1" i="0" u="none">
                <a:solidFill>
                  <a:srgbClr val="1F3864"/>
                </a:solidFill>
                <a:latin typeface="Calibri"/>
              </a:rPr>
              <a:t>Indian city, satellite map (~35 cm/px)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 u="none">
                <a:solidFill>
                  <a:srgbClr val="D94F2B"/>
                </a:solidFill>
                <a:latin typeface="Calibri"/>
              </a:rPr>
              <a:t>Left: </a:t>
            </a:r>
            <a:r>
              <a:rPr sz="900" b="0" i="0" u="none">
                <a:solidFill>
                  <a:srgbClr val="1A1A1A"/>
                </a:solidFill>
                <a:latin typeface="Calibri"/>
              </a:rPr>
              <a:t>drone-only model — most buildings missed.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 u="none">
                <a:solidFill>
                  <a:srgbClr val="0F8070"/>
                </a:solidFill>
                <a:latin typeface="Calibri"/>
              </a:rPr>
              <a:t>Right: </a:t>
            </a:r>
            <a:r>
              <a:rPr sz="900" b="0" i="0" u="none">
                <a:solidFill>
                  <a:srgbClr val="1A1A1A"/>
                </a:solidFill>
                <a:latin typeface="Calibri"/>
              </a:rPr>
              <a:t>multi-scale model — mid-rise and large flat roofs found.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800" b="0" i="1" u="none">
                <a:solidFill>
                  <a:srgbClr val="555F6D"/>
                </a:solidFill>
                <a:latin typeface="Calibri"/>
              </a:rPr>
              <a:t>No ground truth here: qualitative.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74320" y="4572000"/>
            <a:ext cx="548640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Benefits of the solution</a:t>
            </a:r>
          </a:p>
        </p:txBody>
      </p:sp>
      <p:graphicFrame>
        <p:nvGraphicFramePr>
          <p:cNvPr id="17419" name="Table 17418"/>
          <p:cNvGraphicFramePr>
            <a:graphicFrameLocks noGrp="1"/>
          </p:cNvGraphicFramePr>
          <p:nvPr/>
        </p:nvGraphicFramePr>
        <p:xfrm>
          <a:off x="274320" y="4873752"/>
          <a:ext cx="11658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How GeoParcel AI delivers it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Faster, more transparent property records; fewer boundary disputes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Uniform, auditable polygons with surveyor sign-off feed SVAMITVA / NAKSHA property cards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Economic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Surveyor time moves from tracing to verification; better property-tax base for ULBs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Automatic footprints + GeoJSON export; open-source, runs on commodity hardware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Environmental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Fewer repeat field visits; reuses imagery already captured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Works on existing drone and satellite orthomosaics — no new flights needed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Standard, machine-readable land data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Georeferenced GeoJSON in source CRS, ready for Web-GIS and Digital India Land Records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SUPER6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74320" y="1097280"/>
            <a:ext cx="640080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500" b="1" i="0" u="sng">
                <a:solidFill>
                  <a:srgbClr val="0070C0"/>
                </a:solidFill>
                <a:latin typeface="Calibri"/>
              </a:rPr>
              <a:t>Research papers &amp; methods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274320" y="1417320"/>
            <a:ext cx="6583680" cy="237744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a. </a:t>
            </a:r>
            <a:r>
              <a:rPr sz="1000" b="1" i="0" u="none">
                <a:solidFill>
                  <a:srgbClr val="1A1A1A"/>
                </a:solidFill>
                <a:latin typeface="Calibri"/>
              </a:rPr>
              <a:t>Ronneberger, O., Fischer, P., Brox, T. (2015). 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U-Net: Convolutional Networks for Biomedical Image Segmentation. MICCAI.  </a:t>
            </a:r>
            <a:r>
              <a:rPr sz="850" b="0" i="0" u="sng">
                <a:solidFill>
                  <a:srgbClr val="0070C0"/>
                </a:solidFill>
                <a:latin typeface="Calibri"/>
                <a:hlinkClick r:id="rId4"/>
              </a:rPr>
              <a:t>arxiv.org/abs/1505.04597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b. </a:t>
            </a:r>
            <a:r>
              <a:rPr sz="1000" b="1" i="0" u="none">
                <a:solidFill>
                  <a:srgbClr val="1A1A1A"/>
                </a:solidFill>
                <a:latin typeface="Calibri"/>
              </a:rPr>
              <a:t>He, K., Zhang, X., Ren, S., Sun, J. (2016). 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Deep Residual Learning for Image Recognition. CVPR.  </a:t>
            </a:r>
            <a:r>
              <a:rPr sz="850" b="0" i="0" u="sng">
                <a:solidFill>
                  <a:srgbClr val="0070C0"/>
                </a:solidFill>
                <a:latin typeface="Calibri"/>
                <a:hlinkClick r:id="rId5"/>
              </a:rPr>
              <a:t>arxiv.org/abs/1512.03385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c. </a:t>
            </a:r>
            <a:r>
              <a:rPr sz="1000" b="1" i="0" u="none">
                <a:solidFill>
                  <a:srgbClr val="1A1A1A"/>
                </a:solidFill>
                <a:latin typeface="Calibri"/>
              </a:rPr>
              <a:t>Douglas, D., Peucker, T. (1973). 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Algorithms for the reduction of the number of points required to represent a digitized line or its caricature. The Canadian Cartographer, 10(2).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d. 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Zero-Shot Building Footprint Extraction and Regularization Based on Segment Anything Model with Mesh Model.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e. 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UrbanSAM: Learning Invariance-Inspired Adapters for Segment Anything Models in Urban Construction.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f. 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The Segment Anything Model (SAM) for Remote Sensing Applications: From Zero to One Shot.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 u="none">
                <a:solidFill>
                  <a:srgbClr val="1F3864"/>
                </a:solidFill>
                <a:latin typeface="Calibri"/>
              </a:rPr>
              <a:t>g. </a:t>
            </a:r>
            <a:r>
              <a:rPr sz="1000" b="0" i="0" u="none">
                <a:solidFill>
                  <a:srgbClr val="1A1A1A"/>
                </a:solidFill>
                <a:latin typeface="Calibri"/>
              </a:rPr>
              <a:t>Enhancing Conventional Land Surveying for Cadastral Documentation in Romania with UAV Photogrammetry and SLAM.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74320" y="3767328"/>
            <a:ext cx="640080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Data, programmes &amp; tools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4069080"/>
            <a:ext cx="6583680" cy="114300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marL="155448" indent="-155448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Open Cities AI Challenge dataset — GFDRR Labs (2020), drone imagery + building labels, ODbL-1.0.  </a:t>
            </a:r>
            <a:r>
              <a:rPr sz="1000" b="0" i="0" u="sng">
                <a:solidFill>
                  <a:srgbClr val="0070C0"/>
                </a:solidFill>
                <a:latin typeface="Calibri"/>
                <a:hlinkClick r:id="rId6"/>
              </a:rPr>
              <a:t>source.coop/open-cities</a:t>
            </a:r>
          </a:p>
          <a:p>
            <a:pPr marL="155448" indent="-155448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NAKSHA urban land survey pilot — 152 ULBs, 26 States + 3 UTs (DoLR, Feb 2025).  </a:t>
            </a:r>
            <a:r>
              <a:rPr sz="1000" b="0" i="0" u="sng">
                <a:solidFill>
                  <a:srgbClr val="0070C0"/>
                </a:solidFill>
                <a:latin typeface="Calibri"/>
                <a:hlinkClick r:id="rId7"/>
              </a:rPr>
              <a:t>newsonair.gov.in</a:t>
            </a:r>
          </a:p>
          <a:p>
            <a:pPr marL="155448" indent="-155448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SVAMITVA — drone survey done in 3.29 lakh of 3.44 lakh villages (PIB, 11 Mar 2026).  </a:t>
            </a:r>
            <a:r>
              <a:rPr sz="1000" b="0" i="0" u="sng">
                <a:solidFill>
                  <a:srgbClr val="0070C0"/>
                </a:solidFill>
                <a:latin typeface="Calibri"/>
                <a:hlinkClick r:id="rId8"/>
              </a:rPr>
              <a:t>PIB India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 u="none">
                <a:solidFill>
                  <a:srgbClr val="1A1A1A"/>
                </a:solidFill>
                <a:latin typeface="Calibri"/>
              </a:rPr>
              <a:t>segmentation_models_pytorch, Rasterio, GeoPandas, Shapely, Gradio (open source).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74320" y="5394960"/>
            <a:ext cx="6583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D94F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365760" y="5422392"/>
            <a:ext cx="6446520" cy="795528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u="none">
                <a:solidFill>
                  <a:srgbClr val="D94F2B"/>
                </a:solidFill>
                <a:latin typeface="Calibri"/>
              </a:rPr>
              <a:t>Project links (live prototype)</a:t>
            </a:r>
          </a:p>
          <a:p>
            <a:pPr marL="155448" indent="-155448" algn="l">
              <a:spcBef>
                <a:spcPts val="0"/>
              </a:spcBef>
              <a:spcAft>
                <a:spcPts val="100"/>
              </a:spcAft>
              <a:buClr>
                <a:srgbClr val="0070C0"/>
              </a:buClr>
              <a:buFont typeface="Arial"/>
              <a:buChar char="•"/>
            </a:pPr>
            <a:r>
              <a:rPr sz="1000" b="1" i="0" u="none">
                <a:solidFill>
                  <a:srgbClr val="1A1A1A"/>
                </a:solidFill>
                <a:latin typeface="Calibri"/>
              </a:rPr>
              <a:t>Live demo: </a:t>
            </a:r>
            <a:r>
              <a:rPr sz="1000" b="0" i="0" u="sng">
                <a:solidFill>
                  <a:srgbClr val="0070C0"/>
                </a:solidFill>
                <a:latin typeface="Calibri"/>
                <a:hlinkClick r:id="rId9"/>
              </a:rPr>
              <a:t>https://huggingface.co/spaces/omeow/geoparcel-ai</a:t>
            </a:r>
          </a:p>
          <a:p>
            <a:pPr marL="155448" indent="-155448" algn="l">
              <a:spcBef>
                <a:spcPts val="0"/>
              </a:spcBef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00" b="1" i="0" u="none">
                <a:solidFill>
                  <a:srgbClr val="1A1A1A"/>
                </a:solidFill>
                <a:latin typeface="Calibri"/>
              </a:rPr>
              <a:t>GitHub: </a:t>
            </a:r>
            <a:r>
              <a:rPr sz="1000" b="0" i="0" u="sng">
                <a:solidFill>
                  <a:srgbClr val="0070C0"/>
                </a:solidFill>
                <a:latin typeface="Calibri"/>
                <a:hlinkClick r:id="rId10"/>
              </a:rPr>
              <a:t>https://github.com/OMMEOW/SIH26_PS26012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086600" y="1097280"/>
            <a:ext cx="484632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How we compare</a:t>
            </a:r>
          </a:p>
        </p:txBody>
      </p:sp>
      <p:graphicFrame>
        <p:nvGraphicFramePr>
          <p:cNvPr id="17417" name="Table 17416"/>
          <p:cNvGraphicFramePr>
            <a:graphicFrameLocks noGrp="1"/>
          </p:cNvGraphicFramePr>
          <p:nvPr/>
        </p:nvGraphicFramePr>
        <p:xfrm>
          <a:off x="7086600" y="1417320"/>
          <a:ext cx="4846320" cy="2121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GeoParcel AI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Manual GIS tracing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Raw AI mask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Automatic building extraction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D94F2B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Clean right-angled polygons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D94F2B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Georeferenced GeoJSON output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D94F2B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Handles drone + satellite resolutions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F6D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Same rules for every ward / operator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555F6D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1A"/>
                          </a:solidFill>
                          <a:latin typeface="Calibri"/>
                        </a:rPr>
                        <a:t>Surveyor verification step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807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D94F2B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45720" marT="18288" marB="18288" anchor="ctr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18" name="TextBox 17417"/>
          <p:cNvSpPr txBox="1"/>
          <p:nvPr/>
        </p:nvSpPr>
        <p:spPr>
          <a:xfrm>
            <a:off x="7086600" y="3566160"/>
            <a:ext cx="4846320" cy="228600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750" b="0" i="1" u="none">
                <a:solidFill>
                  <a:srgbClr val="555F6D"/>
                </a:solidFill>
                <a:latin typeface="Calibri"/>
              </a:rPr>
              <a:t>“Raw AI mask” = a segmentation model without our regularisation and GIS export.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086600" y="4114800"/>
            <a:ext cx="4846320" cy="310896"/>
          </a:xfrm>
          <a:prstGeom prst="rect">
            <a:avLst/>
          </a:prstGeom>
          <a:noFill/>
        </p:spPr>
        <p:txBody>
          <a:bodyPr wrap="square" lIns="36576" tIns="36576" rIns="36576" bIns="36576" anchor="t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0" i="0" u="none">
                <a:solidFill>
                  <a:srgbClr val="0070C0"/>
                </a:solidFill>
                <a:latin typeface="Calibri"/>
              </a:rPr>
              <a:t>➤ </a:t>
            </a:r>
            <a:r>
              <a:rPr sz="1250" b="1" i="0" u="sng">
                <a:solidFill>
                  <a:srgbClr val="0070C0"/>
                </a:solidFill>
                <a:latin typeface="Calibri"/>
              </a:rPr>
              <a:t>Research flow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086600" y="4462272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Problem study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8174736" y="4782312"/>
            <a:ext cx="128016" cy="0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8311896" y="4462272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9400032" y="4782312"/>
            <a:ext cx="128016" cy="0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9537192" y="4462272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Data &amp; CRS alignment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10625328" y="4782312"/>
            <a:ext cx="128016" cy="0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ounded Rectangle 17425"/>
          <p:cNvSpPr/>
          <p:nvPr/>
        </p:nvSpPr>
        <p:spPr>
          <a:xfrm>
            <a:off x="10762488" y="4462272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Model training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11301984" y="5111496"/>
            <a:ext cx="0" cy="237744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10762488" y="5358383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F8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Regularisation</a:t>
            </a:r>
          </a:p>
        </p:txBody>
      </p:sp>
      <p:cxnSp>
        <p:nvCxnSpPr>
          <p:cNvPr id="17429" name="Connector 17428"/>
          <p:cNvCxnSpPr/>
          <p:nvPr/>
        </p:nvCxnSpPr>
        <p:spPr>
          <a:xfrm flipH="1">
            <a:off x="10625328" y="5678423"/>
            <a:ext cx="128016" cy="0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Rounded Rectangle 17429"/>
          <p:cNvSpPr/>
          <p:nvPr/>
        </p:nvSpPr>
        <p:spPr>
          <a:xfrm>
            <a:off x="9537192" y="5358383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F8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Multi-scale fine-tune</a:t>
            </a:r>
          </a:p>
        </p:txBody>
      </p:sp>
      <p:cxnSp>
        <p:nvCxnSpPr>
          <p:cNvPr id="17431" name="Connector 17430"/>
          <p:cNvCxnSpPr/>
          <p:nvPr/>
        </p:nvCxnSpPr>
        <p:spPr>
          <a:xfrm flipH="1">
            <a:off x="9400032" y="5678423"/>
            <a:ext cx="128016" cy="0"/>
          </a:xfrm>
          <a:prstGeom prst="line">
            <a:avLst/>
          </a:prstGeom>
          <a:ln w="19050">
            <a:solidFill>
              <a:srgbClr val="555F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8311896" y="5358383"/>
            <a:ext cx="1078992" cy="640080"/>
          </a:xfrm>
          <a:prstGeom prst="roundRect">
            <a:avLst>
              <a:gd name="adj" fmla="val 8000"/>
            </a:avLst>
          </a:prstGeom>
          <a:solidFill>
            <a:srgbClr val="0F8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Deployment &amp; demo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7493</TotalTime>
  <Words>1895</Words>
  <Application>Microsoft Macintosh PowerPoint</Application>
  <PresentationFormat>Widescreen</PresentationFormat>
  <Paragraphs>240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 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COMP_FY_A_53_23/24_KOYANDE_OM</cp:lastModifiedBy>
  <cp:revision>149</cp:revision>
  <dcterms:created xsi:type="dcterms:W3CDTF">2013-12-12T18:46:50Z</dcterms:created>
  <dcterms:modified xsi:type="dcterms:W3CDTF">2026-10-04T04:44:05Z</dcterms:modified>
  <cp:category/>
</cp:coreProperties>
</file>